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69d46728a74cd4" /><Relationship Type="http://schemas.openxmlformats.org/officeDocument/2006/relationships/extended-properties" Target="/docProps/app.xml" Id="R11e6f2de83df486a" /><Relationship Type="http://schemas.openxmlformats.org/officeDocument/2006/relationships/officeDocument" Target="/ppt/presentation.xml" Id="Rfc071cd9cf6f44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81e604093240bf"/>
  </p:sldMasterIdLst>
  <p:notesMasterIdLst>
    <p:notesMasterId xmlns:r="http://schemas.openxmlformats.org/officeDocument/2006/relationships" r:id="R497e3aaeeece4d4b"/>
  </p:notesMasterIdLst>
  <p:sldIdLst>
    <p:sldId xmlns:r="http://schemas.openxmlformats.org/officeDocument/2006/relationships" id="256" r:id="R11389ef24f264701"/>
    <p:sldId xmlns:r="http://schemas.openxmlformats.org/officeDocument/2006/relationships" id="257" r:id="R3077b0fa9f8a46bb"/>
    <p:sldId xmlns:r="http://schemas.openxmlformats.org/officeDocument/2006/relationships" id="258" r:id="Re705b444036240cd"/>
    <p:sldId xmlns:r="http://schemas.openxmlformats.org/officeDocument/2006/relationships" id="259" r:id="R09e7de995b2b4914"/>
    <p:sldId xmlns:r="http://schemas.openxmlformats.org/officeDocument/2006/relationships" id="260" r:id="R16146722415c4684"/>
    <p:sldId xmlns:r="http://schemas.openxmlformats.org/officeDocument/2006/relationships" id="261" r:id="Rb1fc5ad1105e4ece"/>
    <p:sldId xmlns:r="http://schemas.openxmlformats.org/officeDocument/2006/relationships" id="262" r:id="R0777a437a7da46ed"/>
    <p:sldId xmlns:r="http://schemas.openxmlformats.org/officeDocument/2006/relationships" id="263" r:id="Rdb4d78b0ce824af0"/>
    <p:sldId xmlns:r="http://schemas.openxmlformats.org/officeDocument/2006/relationships" id="264" r:id="R206fc5b31177455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444a80f4f7470c" /><Relationship Type="http://schemas.openxmlformats.org/officeDocument/2006/relationships/slideMaster" Target="/ppt/slideMasters/slideMaster1.xml" Id="R9181e604093240bf" /><Relationship Type="http://schemas.openxmlformats.org/officeDocument/2006/relationships/notesMaster" Target="/ppt/notesMasters/notesMaster1.xml" Id="R497e3aaeeece4d4b" /><Relationship Type="http://schemas.openxmlformats.org/officeDocument/2006/relationships/presProps" Target="/ppt/presProps.xml" Id="Rba47b6a4d3d5463b" /><Relationship Type="http://schemas.openxmlformats.org/officeDocument/2006/relationships/tableStyles" Target="/ppt/tableStyles.xml" Id="R6743fa714f854819" /><Relationship Type="http://schemas.openxmlformats.org/officeDocument/2006/relationships/slide" Target="/ppt/slides/slide1.xml" Id="R11389ef24f264701" /><Relationship Type="http://schemas.openxmlformats.org/officeDocument/2006/relationships/slide" Target="/ppt/slides/slide2.xml" Id="R3077b0fa9f8a46bb" /><Relationship Type="http://schemas.openxmlformats.org/officeDocument/2006/relationships/slide" Target="/ppt/slides/slide3.xml" Id="Re705b444036240cd" /><Relationship Type="http://schemas.openxmlformats.org/officeDocument/2006/relationships/slide" Target="/ppt/slides/slide4.xml" Id="R09e7de995b2b4914" /><Relationship Type="http://schemas.openxmlformats.org/officeDocument/2006/relationships/slide" Target="/ppt/slides/slide5.xml" Id="R16146722415c4684" /><Relationship Type="http://schemas.openxmlformats.org/officeDocument/2006/relationships/slide" Target="/ppt/slides/slide6.xml" Id="Rb1fc5ad1105e4ece" /><Relationship Type="http://schemas.openxmlformats.org/officeDocument/2006/relationships/slide" Target="/ppt/slides/slide7.xml" Id="R0777a437a7da46ed" /><Relationship Type="http://schemas.openxmlformats.org/officeDocument/2006/relationships/slide" Target="/ppt/slides/slide8.xml" Id="Rdb4d78b0ce824af0" /><Relationship Type="http://schemas.openxmlformats.org/officeDocument/2006/relationships/slide" Target="/ppt/slides/slide9.xml" Id="R206fc5b3117745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cf871d29a54f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7bcd7199684819" /><Relationship Type="http://schemas.openxmlformats.org/officeDocument/2006/relationships/notesMaster" Target="/ppt/notesMasters/notesMaster1.xml" Id="Rc491a4e4ed1343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419310e80314a79" /><Relationship Type="http://schemas.openxmlformats.org/officeDocument/2006/relationships/notesMaster" Target="/ppt/notesMasters/notesMaster1.xml" Id="Rc1a4503ac75242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7f318337b54719" /><Relationship Type="http://schemas.openxmlformats.org/officeDocument/2006/relationships/notesMaster" Target="/ppt/notesMasters/notesMaster1.xml" Id="Racc8f158e9f34fe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c664d23db74210" /><Relationship Type="http://schemas.openxmlformats.org/officeDocument/2006/relationships/notesMaster" Target="/ppt/notesMasters/notesMaster1.xml" Id="R58d6e47985634d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85ab6a4e5c4058" /><Relationship Type="http://schemas.openxmlformats.org/officeDocument/2006/relationships/notesMaster" Target="/ppt/notesMasters/notesMaster1.xml" Id="R89ec494d306f45a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dffdbb7b3514a7e" /><Relationship Type="http://schemas.openxmlformats.org/officeDocument/2006/relationships/notesMaster" Target="/ppt/notesMasters/notesMaster1.xml" Id="Rf7a1586bf88b4c8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e70c0d151444846" /><Relationship Type="http://schemas.openxmlformats.org/officeDocument/2006/relationships/notesMaster" Target="/ppt/notesMasters/notesMaster1.xml" Id="Rb6df0cb99f90484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6e60b0e90df405a" /><Relationship Type="http://schemas.openxmlformats.org/officeDocument/2006/relationships/notesMaster" Target="/ppt/notesMasters/notesMaster1.xml" Id="R4efec60e38574ec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fdc21727d99483d" /><Relationship Type="http://schemas.openxmlformats.org/officeDocument/2006/relationships/notesMaster" Target="/ppt/notesMasters/notesMaster1.xml" Id="Rc640d4429e904d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Yo‘nalish: qishloq xo‘jaligi texnologiyalari. Tasvir AI yordamida yaratilgan illustratsiya, loyiha dalili emas. Tanlov: https://t.me/s/tuituz_official/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slayd loyiha hal qilayotgan amaliy jarayon muammolarini ifodalaydi; miqdoriy bozor da’vosi yo‘q.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MVP arxitekturasi: Next.js frontend, NestJS backend, PostgreSQL. 2026-yil sentabr holatida mavjud funksiyalar asosida. To‘lov va escrow faqat demo; haqiqiy pul o‘tkazmaydi.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 va testlar asosida: frontend, backend, PostgreSQL; API asosiy oqimi test qilingan. Real mijoz/GMV/bozor traction da’vosi yo‘q.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Mavjud kod: stock reservation PostgreSQL transaction, transport pricing service (DEMO_V1), demo payment/escrow/ledger. Differensiasiya — integratsiyalashgan jarayon; yagonalik yoki patent da’vo qilinmaydi.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DEMO_V1 backend tarifi, ishlab chiqilgan misol. 10 000 + 1 800 × 33,44 + 15 × 800 = 82 192 UZS. Bu rasmiy bozor tarifi emas. Yo‘l OSRM asosida; tuman geokodlanganida taxminiy. Tasvir AI illustratsiyasi.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Pilot sonlari taklif etilayotgan sinov maqsadi, amalga oshirilgan natija emas. Natijalar: listing yaratish vaqti, muvaffaqiyatli buyurtma ulushi, yetkazish kechikishlari, xatolar va foydalanuvchi fikri.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rasmiy xarajatlar smetasi emas; miqdorlar dastlabki ishchi taxmin. Nizom 7-bandida mablag‘dan foydalanish maqsadi (prototip materiallari/uskunalari, xorijiy dasturlar) ko‘rsatilgan. Narxlarni tijorat takliflari va TATU tasdiqlagan shakl bilan tekshirish kerak. Manba: https://lex.uz/uz/docs/8452392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Natijalar hozirgi fakt emas, pilotda tekshiriladigan gipotezalar. Tanlov baholash mezonlari: yangilik, dolzarblik, analoglardan farq, smeta, kutilgan natija. Manba: https://lex.uz/uz/docs/8452392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6c647048bf407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f97c48a77a448f" /><Relationship Type="http://schemas.openxmlformats.org/officeDocument/2006/relationships/slideLayout" Target="/ppt/slideLayouts/slideLayout1.xml" Id="R579ebe21fdd44c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9ebe21fdd44c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f44e3b6d21468e" /><Relationship Type="http://schemas.openxmlformats.org/officeDocument/2006/relationships/image" Target="/ppt/media/image.png" Id="R1b4127aac52340aa" /><Relationship Type="http://schemas.openxmlformats.org/officeDocument/2006/relationships/notesSlide" Target="/ppt/notesSlides/notesSlide1.xml" Id="R7453a7bce6e449f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09252232484043" /><Relationship Type="http://schemas.openxmlformats.org/officeDocument/2006/relationships/notesSlide" Target="/ppt/notesSlides/notesSlide2.xml" Id="R671dfe53d6e843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8d580ef62c4302" /><Relationship Type="http://schemas.openxmlformats.org/officeDocument/2006/relationships/notesSlide" Target="/ppt/notesSlides/notesSlide3.xml" Id="R53d1aa5f5bbe44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019e4f33ed4933" /><Relationship Type="http://schemas.openxmlformats.org/officeDocument/2006/relationships/notesSlide" Target="/ppt/notesSlides/notesSlide4.xml" Id="R34d7ff32429c490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064e06656e4231" /><Relationship Type="http://schemas.openxmlformats.org/officeDocument/2006/relationships/notesSlide" Target="/ppt/notesSlides/notesSlide5.xml" Id="R4b888b1fd687416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3ece12f46840a6" /><Relationship Type="http://schemas.openxmlformats.org/officeDocument/2006/relationships/image" Target="/ppt/media/image2.png" Id="R0f16101c4eff452a" /><Relationship Type="http://schemas.openxmlformats.org/officeDocument/2006/relationships/notesSlide" Target="/ppt/notesSlides/notesSlide6.xml" Id="Rd7f6206b390847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04a955be304efa" /><Relationship Type="http://schemas.openxmlformats.org/officeDocument/2006/relationships/notesSlide" Target="/ppt/notesSlides/notesSlide7.xml" Id="R575d54ee10da4d3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cdf71b42744f4e" /><Relationship Type="http://schemas.openxmlformats.org/officeDocument/2006/relationships/notesSlide" Target="/ppt/notesSlides/notesSlide8.xml" Id="R1f2a297a5a674d0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c67940ff304116" /><Relationship Type="http://schemas.openxmlformats.org/officeDocument/2006/relationships/notesSlide" Target="/ppt/notesSlides/notesSlide9.xml" Id="Rc860d59fddac47d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D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4127aac52340aa"/>
          <a:srcRect xmlns:a="http://schemas.openxmlformats.org/drawingml/2006/main" l="13653" t="0" r="1365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0"/>
            <a:ext cx="88582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04C9E1-A808-4A73-929A-728D1D10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143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D2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284C9B-D843-4EF0-BEA2-8EFF2EFFD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4457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Agrologistik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DB7346-E4D9-46E5-AEF6-70DFD836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4191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Fermer, xaridor va tashuvchi uchun yagona savdo jarayoni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212D01-B30A-4BF9-AE0D-CDB865E3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FCFA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FCFAC"/>
                </a:solidFill>
                <a:latin typeface="Arial"/>
                <a:ea typeface="Arial"/>
                <a:cs typeface="Arial"/>
              </a:rPr>
              <a:t>TATU  |  Eng innovatsion g‘oya  |  2026</a:t>
            </a:r>
          </a:p>
        </p:txBody>
      </p:sp>
    </p:spTree>
    <p:extLst>
      <p:ext uri="{BB962C8B-B14F-4D97-AF65-F5344CB8AC3E}">
        <p14:creationId xmlns:p14="http://schemas.microsoft.com/office/powerpoint/2010/main" val="8618428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5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2F1263-48E3-48C2-B857-BDA19039F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6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620"/>
                </a:solidFill>
                <a:latin typeface="Arial"/>
                <a:ea typeface="Arial"/>
                <a:cs typeface="Arial"/>
              </a:rPr>
              <a:t>Muammo: savdo jarayoni bo‘lingan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3A6525-4252-42E1-9EC7-B604423E9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571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16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5EED2A-1B26-41D2-B665-F4D6E94D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062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6246"/>
                </a:solidFill>
                <a:latin typeface="Arial"/>
                <a:ea typeface="Arial"/>
                <a:cs typeface="Arial"/>
              </a:rPr>
              <a:t>Fermer e’lon beradi. Xaridor mahsulot topadi. Tashuvchi yetkazadi.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9A3EA5-7622-4179-BE58-2ADAF6CD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62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620"/>
                </a:solidFill>
                <a:latin typeface="Arial"/>
                <a:ea typeface="Arial"/>
                <a:cs typeface="Arial"/>
              </a:rPr>
              <a:t>Ammo bu uch qaror ko‘pincha alohida kelishiladi: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29727E-E189-449A-894D-0F8961B8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908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3A25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D3A25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EE13B8-39D6-4477-928A-9689113DE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190875"/>
            <a:ext cx="2971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62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620"/>
                </a:solidFill>
                <a:latin typeface="Arial"/>
                <a:ea typeface="Arial"/>
                <a:cs typeface="Arial"/>
              </a:rPr>
              <a:t>Mavjud zaxira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65264F-2885-4E40-B375-E120FB24A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90875"/>
            <a:ext cx="657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716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7166"/>
                </a:solidFill>
                <a:latin typeface="Arial"/>
                <a:ea typeface="Arial"/>
                <a:cs typeface="Arial"/>
              </a:rPr>
              <a:t>Buyurtma paytida haqiqiy qolgan miqdor aniq bo‘lishi kerak.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5D470F-F4CB-4E15-B9CC-D8E33ABE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433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3A25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D3A25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B38D8B-C85E-4A1B-87CF-24096EEC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143375"/>
            <a:ext cx="2971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62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620"/>
                </a:solidFill>
                <a:latin typeface="Arial"/>
                <a:ea typeface="Arial"/>
                <a:cs typeface="Arial"/>
              </a:rPr>
              <a:t>Tashish narxi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142C04-BF03-4709-BF8E-F288B461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43375"/>
            <a:ext cx="657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716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7166"/>
                </a:solidFill>
                <a:latin typeface="Arial"/>
                <a:ea typeface="Arial"/>
                <a:cs typeface="Arial"/>
              </a:rPr>
              <a:t>Masofa va yuk og‘irligi narxga ochiq ta’sir qilishi kerak.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57425F-2E56-44E9-BB6F-B363ECFA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958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3A25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D3A25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F67AAB-6090-4DB7-90E9-4CA23575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5095875"/>
            <a:ext cx="2971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62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620"/>
                </a:solidFill>
                <a:latin typeface="Arial"/>
                <a:ea typeface="Arial"/>
                <a:cs typeface="Arial"/>
              </a:rPr>
              <a:t>Ishonch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0002C2-A9EA-4772-81BE-96A2FF2C0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95875"/>
            <a:ext cx="657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716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7166"/>
                </a:solidFill>
                <a:latin typeface="Arial"/>
                <a:ea typeface="Arial"/>
                <a:cs typeface="Arial"/>
              </a:rPr>
              <a:t>To‘lov, yetkazish va qabul qilish bir izda ko‘rinishi kerak.</a:t>
            </a:r>
          </a:p>
        </p:txBody>
      </p:sp>
    </p:spTree>
    <p:extLst>
      <p:ext uri="{BB962C8B-B14F-4D97-AF65-F5344CB8AC3E}">
        <p14:creationId xmlns:p14="http://schemas.microsoft.com/office/powerpoint/2010/main" val="7529634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5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67FA82-4C41-4FC1-A436-0D8766A5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6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620"/>
                </a:solidFill>
                <a:latin typeface="Arial"/>
                <a:ea typeface="Arial"/>
                <a:cs typeface="Arial"/>
              </a:rPr>
              <a:t>Yechim: bitta buyurtma izi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F26CD9-EC22-451C-B1DF-3E6742A9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571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16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A5ECF0-5B35-4142-B6E5-5ED61AAC0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D3A25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D3A25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A2FDA8-D72B-4C3B-B905-DF3587BF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6525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624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6246"/>
                </a:solidFill>
                <a:latin typeface="Arial"/>
                <a:ea typeface="Arial"/>
                <a:cs typeface="Arial"/>
              </a:rPr>
              <a:t>Fermer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4185D4-64F8-4192-9C58-7F59B9D1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23812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6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620"/>
                </a:solidFill>
                <a:latin typeface="Arial"/>
                <a:ea typeface="Arial"/>
                <a:cs typeface="Arial"/>
              </a:rPr>
              <a:t>Mahsulot va miqdorni e’lon qiladi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1ACE1F-1141-4873-943E-3A2A9137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73355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D3A25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D3A25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213DAE-DDBB-4C6D-8BBD-F9C71A6B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676525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624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6246"/>
                </a:solidFill>
                <a:latin typeface="Arial"/>
                <a:ea typeface="Arial"/>
                <a:cs typeface="Arial"/>
              </a:rPr>
              <a:t>Xaridor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59EC24-1667-4CB8-A27E-5B5A68710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429000"/>
            <a:ext cx="23812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6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620"/>
                </a:solidFill>
                <a:latin typeface="Arial"/>
                <a:ea typeface="Arial"/>
                <a:cs typeface="Arial"/>
              </a:rPr>
              <a:t>Narx va mavjud zaxirani ko‘rib buyurtma beradi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EBF7F7-6932-424E-AC1E-EE277C11C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3355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D3A25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D3A25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07FC51-3868-4BCA-961A-BFE9AA82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76525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624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6246"/>
                </a:solidFill>
                <a:latin typeface="Arial"/>
                <a:ea typeface="Arial"/>
                <a:cs typeface="Arial"/>
              </a:rPr>
              <a:t>Tashuvchi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E4FBB8-D244-4F02-8BFA-B823F794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29000"/>
            <a:ext cx="23812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6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620"/>
                </a:solidFill>
                <a:latin typeface="Arial"/>
                <a:ea typeface="Arial"/>
                <a:cs typeface="Arial"/>
              </a:rPr>
              <a:t>Yo‘l va yuk asosidagi narxda taklif yuboradi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622DE1-868A-4CB3-A324-28C8CC3C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73355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D3A25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D3A25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97B5E6-62D4-41BE-BD41-A596DFFB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76525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624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6246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C57402-DA5E-4AD1-9D15-A222C5A43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429000"/>
            <a:ext cx="23812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6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620"/>
                </a:solidFill>
                <a:latin typeface="Arial"/>
                <a:ea typeface="Arial"/>
                <a:cs typeface="Arial"/>
              </a:rPr>
              <a:t>E’lon va jarayonni nazorat qiladi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134C0-8A40-4CA0-8AE0-9C5F1455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72075"/>
            <a:ext cx="10810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CFA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C73A4A-EF53-4DE1-8E77-A80C1D60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5716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57166"/>
                </a:solidFill>
                <a:latin typeface="Arial"/>
                <a:ea typeface="Arial"/>
                <a:cs typeface="Arial"/>
              </a:rPr>
              <a:t>Buyurtma holati, yetkazish va demo hisob-kitob bir joyda saqlanadi.</a:t>
            </a:r>
          </a:p>
        </p:txBody>
      </p:sp>
    </p:spTree>
    <p:extLst>
      <p:ext uri="{BB962C8B-B14F-4D97-AF65-F5344CB8AC3E}">
        <p14:creationId xmlns:p14="http://schemas.microsoft.com/office/powerpoint/2010/main" val="10494577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23D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70C932-B290-4B44-A548-706A59B7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Ishlaydigan Competition MVP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7B71DF-543D-4D4D-BE01-73D0FAFAB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DFCFA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FCFA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DBEF1B-0082-4F32-9B08-D39881187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FCFA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FCFAC"/>
                </a:solidFill>
                <a:latin typeface="Arial"/>
                <a:ea typeface="Arial"/>
                <a:cs typeface="Arial"/>
              </a:rPr>
              <a:t>Veb ilovada to‘rt rol uchun asosiy jarayon mavjud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C9F61A-A13F-47C8-8B6D-3B0797A9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24125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Fermer: e’lon yaratish va buyurtmani boshqarish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CC96AE-A919-49B5-9284-63C87570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48025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Xaridor: qidirish, buyurtma va yetkazishni kuzatish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9D8225-B3FA-4A46-AE0A-6D72B10EE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71925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Tashuvchi: transport taklifi va yetkazish holatlari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820F12-B85B-4D7D-B54E-CE1A67DE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95825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Admin: kuzatuv va e’lon moderatsiyasi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2A53C0-7205-419A-88D0-B3FFDCC18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572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FCFA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FCFAC"/>
                </a:solidFill>
                <a:latin typeface="Arial"/>
                <a:ea typeface="Arial"/>
                <a:cs typeface="Arial"/>
              </a:rPr>
              <a:t>Demo to‘lov va escrow hisob-kitobi haqiqiy bank operatsiyasi emas.</a:t>
            </a:r>
          </a:p>
        </p:txBody>
      </p:sp>
    </p:spTree>
    <p:extLst>
      <p:ext uri="{BB962C8B-B14F-4D97-AF65-F5344CB8AC3E}">
        <p14:creationId xmlns:p14="http://schemas.microsoft.com/office/powerpoint/2010/main" val="223624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5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08B12E-DB38-4D52-94C4-6D854C6B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6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620"/>
                </a:solidFill>
                <a:latin typeface="Arial"/>
                <a:ea typeface="Arial"/>
                <a:cs typeface="Arial"/>
              </a:rPr>
              <a:t>Farq: kelishuvdan hisoblanadigan jarayonga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750E30-C316-4F25-BA98-91701D62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571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16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F1699A-B311-4A7A-BBA8-E68A8E15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62125"/>
            <a:ext cx="2619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624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06246"/>
                </a:solidFill>
                <a:latin typeface="Arial"/>
                <a:ea typeface="Arial"/>
                <a:cs typeface="Arial"/>
              </a:rPr>
              <a:t>Zaxira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16B2FC-2B1C-4775-896D-A730C5BC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28875"/>
            <a:ext cx="3000375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6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620"/>
                </a:solidFill>
                <a:latin typeface="Arial"/>
                <a:ea typeface="Arial"/>
                <a:cs typeface="Arial"/>
              </a:rPr>
              <a:t>Bir mahsulotning oxirgi miqdorini ikki xaridor bir vaqtda olib qo‘ya olmaydi.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93DF7B-4876-4E69-ACB2-CAE82BBD7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762125"/>
            <a:ext cx="2714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624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06246"/>
                </a:solidFill>
                <a:latin typeface="Arial"/>
                <a:ea typeface="Arial"/>
                <a:cs typeface="Arial"/>
              </a:rPr>
              <a:t>Tashish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A47D48-2AC4-4D13-AE8F-621E04C2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428875"/>
            <a:ext cx="3000375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6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620"/>
                </a:solidFill>
                <a:latin typeface="Arial"/>
                <a:ea typeface="Arial"/>
                <a:cs typeface="Arial"/>
              </a:rPr>
              <a:t>Taklif narxi serverda yo‘l kilometri va yuk og‘irligidan hisoblanadi.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4430DD-1AD6-4537-9137-2C12EA09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62125"/>
            <a:ext cx="2524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624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06246"/>
                </a:solidFill>
                <a:latin typeface="Arial"/>
                <a:ea typeface="Arial"/>
                <a:cs typeface="Arial"/>
              </a:rPr>
              <a:t>Hisob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9317C7-03DC-4D08-9781-2FD8872D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28875"/>
            <a:ext cx="28956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6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620"/>
                </a:solidFill>
                <a:latin typeface="Arial"/>
                <a:ea typeface="Arial"/>
                <a:cs typeface="Arial"/>
              </a:rPr>
              <a:t>Demo escrow va moliyaviy yozuvlar buyurtma bilan birga yuradi.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91189D-76CA-4B1C-9158-F28F9D37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5716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57166"/>
                </a:solidFill>
                <a:latin typeface="Arial"/>
                <a:ea typeface="Arial"/>
                <a:cs typeface="Arial"/>
              </a:rPr>
              <a:t>Haqiqiy bank integratsiyasi va jonli GPS hali mahsulot doirasiga kirmaydi.</a:t>
            </a:r>
          </a:p>
        </p:txBody>
      </p:sp>
    </p:spTree>
    <p:extLst>
      <p:ext uri="{BB962C8B-B14F-4D97-AF65-F5344CB8AC3E}">
        <p14:creationId xmlns:p14="http://schemas.microsoft.com/office/powerpoint/2010/main" val="17612077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23D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16101c4eff452a"/>
          <a:srcRect xmlns:a="http://schemas.openxmlformats.org/drawingml/2006/main" l="18655" t="0" r="186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52950" y="0"/>
            <a:ext cx="76390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A0E99C-DF27-4D29-BF1B-F848AB067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048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D2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91131C-290F-4D55-8A90-42189C41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14375"/>
            <a:ext cx="4333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Adolatliroq tashish narxi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319E2E-2004-46E5-BACE-EED24B3A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095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FCFA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FCFAC"/>
                </a:solidFill>
                <a:latin typeface="Arial"/>
                <a:ea typeface="Arial"/>
                <a:cs typeface="Arial"/>
              </a:rPr>
              <a:t>Demo formula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71E640-369F-4739-A633-70DFF7493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39814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10 000 so‘m baza</a:t>
            </a:r>
          </a:p>
          <a:p xmlns:a="http://schemas.openxmlformats.org/drawingml/2006/main">
            <a: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+ 1 800 so‘m × yo‘l km</a:t>
            </a:r>
          </a:p>
          <a:p xmlns:a="http://schemas.openxmlformats.org/drawingml/2006/main">
            <a: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+ 15 so‘m × yuk kg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D7728D-4283-455F-8FA0-96EBFBFF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41433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FCFA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FCFAC"/>
                </a:solidFill>
                <a:latin typeface="Arial"/>
                <a:ea typeface="Arial"/>
                <a:cs typeface="Arial"/>
              </a:rPr>
              <a:t>Misol: 33,44 km va 800 kg</a:t>
            </a:r>
          </a:p>
          <a:p xmlns:a="http://schemas.openxmlformats.org/drawingml/2006/main">
            <a:pPr algn="l">
              <a:defRPr sz="1800" b="1">
                <a:solidFill>
                  <a:srgbClr val="DFCFA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FCFAC"/>
                </a:solidFill>
                <a:latin typeface="Arial"/>
                <a:ea typeface="Arial"/>
                <a:cs typeface="Arial"/>
              </a:rPr>
              <a:t>Narx: 82 192 so‘m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A81680-8BF0-4841-B515-427C8BCF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34075"/>
            <a:ext cx="4143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Manzil koordinatasi bo‘lmasa masofa taxminiy.</a:t>
            </a:r>
          </a:p>
        </p:txBody>
      </p:sp>
    </p:spTree>
    <p:extLst>
      <p:ext uri="{BB962C8B-B14F-4D97-AF65-F5344CB8AC3E}">
        <p14:creationId xmlns:p14="http://schemas.microsoft.com/office/powerpoint/2010/main" val="16368745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5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F9629D-7764-4470-BAF0-3A5D22D7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6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620"/>
                </a:solidFill>
                <a:latin typeface="Arial"/>
                <a:ea typeface="Arial"/>
                <a:cs typeface="Arial"/>
              </a:rPr>
              <a:t>Toshkent viloyatida pilot reja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EFF12C-5153-4131-932A-7882B230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571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16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964A68-F25C-49D1-8FF3-E8ACCEF2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624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6246"/>
                </a:solidFill>
                <a:latin typeface="Arial"/>
                <a:ea typeface="Arial"/>
                <a:cs typeface="Arial"/>
              </a:rPr>
              <a:t>Maqsad: kichik guruhda haqiqiy savdo jarayonining qulayligini o‘lchash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4BE7C8-2849-4DAA-82F0-2296D07C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14859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123D2B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123D2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6F88CF-88AF-472A-BD77-B497231B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2286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062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6246"/>
                </a:solidFill>
                <a:latin typeface="Arial"/>
                <a:ea typeface="Arial"/>
                <a:cs typeface="Arial"/>
              </a:rPr>
              <a:t>fermer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83EC31-2919-4605-BB6A-D94A2740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2895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6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620"/>
                </a:solidFill>
                <a:latin typeface="Arial"/>
                <a:ea typeface="Arial"/>
                <a:cs typeface="Arial"/>
              </a:rPr>
              <a:t>e’lon berish va zaxira aniqligi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A3604A-68B3-45A8-B89B-8AC8BE55B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809875"/>
            <a:ext cx="14859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123D2B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123D2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61D615-93C1-4A1D-B2E5-763412D8D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943350"/>
            <a:ext cx="2286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062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6246"/>
                </a:solidFill>
                <a:latin typeface="Arial"/>
                <a:ea typeface="Arial"/>
                <a:cs typeface="Arial"/>
              </a:rPr>
              <a:t>xaridor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82362B-5C8C-4B5A-A7AE-30721119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686300"/>
            <a:ext cx="2895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6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620"/>
                </a:solidFill>
                <a:latin typeface="Arial"/>
                <a:ea typeface="Arial"/>
                <a:cs typeface="Arial"/>
              </a:rPr>
              <a:t>topishdan buyurtmagacha vaqt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2B1C0C-3CA3-4D67-BCB4-D3F06011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09875"/>
            <a:ext cx="14859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123D2B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123D2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163A60-786D-468C-8FFB-4E2285E8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43350"/>
            <a:ext cx="2286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062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6246"/>
                </a:solidFill>
                <a:latin typeface="Arial"/>
                <a:ea typeface="Arial"/>
                <a:cs typeface="Arial"/>
              </a:rPr>
              <a:t>tashuvchi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D6C1C9-0963-49A2-9F61-55E331DC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686300"/>
            <a:ext cx="2895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6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620"/>
                </a:solidFill>
                <a:latin typeface="Arial"/>
                <a:ea typeface="Arial"/>
                <a:cs typeface="Arial"/>
              </a:rPr>
              <a:t>taklif va yetkazish bosqichlari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A6D530-D644-4076-A6DC-F585DDDF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76925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1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166"/>
                </a:solidFill>
                <a:latin typeface="Arial"/>
                <a:ea typeface="Arial"/>
                <a:cs typeface="Arial"/>
              </a:rPr>
              <a:t>Bu sonlar pilot maqsadi; hozirgi foydalanuvchilar soni emas.</a:t>
            </a:r>
          </a:p>
        </p:txBody>
      </p:sp>
    </p:spTree>
    <p:extLst>
      <p:ext uri="{BB962C8B-B14F-4D97-AF65-F5344CB8AC3E}">
        <p14:creationId xmlns:p14="http://schemas.microsoft.com/office/powerpoint/2010/main" val="19880791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5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06B4B6-AF09-4785-AB69-267DE164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6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620"/>
                </a:solidFill>
                <a:latin typeface="Arial"/>
                <a:ea typeface="Arial"/>
                <a:cs typeface="Arial"/>
              </a:rPr>
              <a:t>50 mln so‘mlik dastlabki smeta ssenariysi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D4D8BC-979D-4C68-9567-8078199C1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571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16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BC404D-6AE3-4B90-87E0-4132725CA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096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71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7166"/>
                </a:solidFill>
                <a:latin typeface="Arial"/>
                <a:ea typeface="Arial"/>
                <a:cs typeface="Arial"/>
              </a:rPr>
              <a:t>Universitet bosqichi 1-o‘rin granti uchun ishchi reja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CA3BA0-38CB-4449-8E6E-0ABFB5C1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09800"/>
            <a:ext cx="8524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62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620"/>
                </a:solidFill>
                <a:latin typeface="Arial"/>
                <a:ea typeface="Arial"/>
                <a:cs typeface="Arial"/>
              </a:rPr>
              <a:t>Pilot sinov uskunalari va qurilmalar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663630-4CC1-4177-9757-A20F3B9F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09800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20624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6246"/>
                </a:solidFill>
                <a:latin typeface="Arial"/>
                <a:ea typeface="Arial"/>
                <a:cs typeface="Arial"/>
              </a:rPr>
              <a:t>18 mln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C4D9B1-DC0D-4F45-AF35-51AC6717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4797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CFA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B81ACD-467C-4166-A0E1-ACC3F44D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14650"/>
            <a:ext cx="8524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62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620"/>
                </a:solidFill>
                <a:latin typeface="Arial"/>
                <a:ea typeface="Arial"/>
                <a:cs typeface="Arial"/>
              </a:rPr>
              <a:t>Tashish va og‘irlikni o‘lchash sinov jihozlari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FF139F-A0FB-47B8-9F15-0ED76AFD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14650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20624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6246"/>
                </a:solidFill>
                <a:latin typeface="Arial"/>
                <a:ea typeface="Arial"/>
                <a:cs typeface="Arial"/>
              </a:rPr>
              <a:t>12 mln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DE67E2-468F-403F-B48C-8F6EB6DE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5282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CFA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49109A-B051-492F-84E1-1C134F434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19500"/>
            <a:ext cx="8524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62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620"/>
                </a:solidFill>
                <a:latin typeface="Arial"/>
                <a:ea typeface="Arial"/>
                <a:cs typeface="Arial"/>
              </a:rPr>
              <a:t>Prototip uchun sarf materiallari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921C80-4154-4941-BF3D-FCA03730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19500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20624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6246"/>
                </a:solidFill>
                <a:latin typeface="Arial"/>
                <a:ea typeface="Arial"/>
                <a:cs typeface="Arial"/>
              </a:rPr>
              <a:t>8 mln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72B6C3-6CC8-4F66-A232-30F0D22A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5767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CFA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48FBF3-1DB1-47A5-B70A-7300C2BB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24350"/>
            <a:ext cx="8524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62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620"/>
                </a:solidFill>
                <a:latin typeface="Arial"/>
                <a:ea typeface="Arial"/>
                <a:cs typeface="Arial"/>
              </a:rPr>
              <a:t>Sinov muhitining texnik qurilmalari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108313-3DC0-4DFF-A777-E4B8DB86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324350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20624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6246"/>
                </a:solidFill>
                <a:latin typeface="Arial"/>
                <a:ea typeface="Arial"/>
                <a:cs typeface="Arial"/>
              </a:rPr>
              <a:t>7 mln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72FEE4-ECC2-4F72-9613-B46CA5B0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6252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CFA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8F0843-4FFC-48D4-B07C-AC1C57D5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29200"/>
            <a:ext cx="8524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62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620"/>
                </a:solidFill>
                <a:latin typeface="Arial"/>
                <a:ea typeface="Arial"/>
                <a:cs typeface="Arial"/>
              </a:rPr>
              <a:t>Zaxira va almashtirish qismlari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B00BB9-0166-4B9E-B0B9-B3DA53FD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029200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20624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6246"/>
                </a:solidFill>
                <a:latin typeface="Arial"/>
                <a:ea typeface="Arial"/>
                <a:cs typeface="Arial"/>
              </a:rPr>
              <a:t>5 mln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0DCE59-0031-4896-8433-E4AB9DC5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5819775"/>
            <a:ext cx="361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325" b="1">
                <a:solidFill>
                  <a:srgbClr val="123D2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23D2B"/>
                </a:solidFill>
                <a:latin typeface="Arial"/>
                <a:ea typeface="Arial"/>
                <a:cs typeface="Arial"/>
              </a:rPr>
              <a:t>Jami: 50 mln so‘m</a:t>
            </a:r>
          </a:p>
        </p:txBody>
      </p:sp>
    </p:spTree>
    <p:extLst>
      <p:ext uri="{BB962C8B-B14F-4D97-AF65-F5344CB8AC3E}">
        <p14:creationId xmlns:p14="http://schemas.microsoft.com/office/powerpoint/2010/main" val="5183608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23D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513D5E-1815-49D3-A52B-2B0A7ED8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Kutiladigan natija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BD77B1-B492-4794-9492-09BD23B18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DFCFA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FCFAC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6B1E3D-E95A-470D-B1C6-13FD2FA82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191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Bir buyurtmaning boshidan oxirigacha ko‘rinadigan yo‘li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000F78-40D5-4ABD-B501-FC852530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0287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DFCFAC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DFCFAC"/>
                </a:solidFill>
                <a:latin typeface="Arial"/>
                <a:ea typeface="Arial"/>
                <a:cs typeface="Arial"/>
              </a:rPr>
              <a:t>Pilotda savdo tezligi, zaxira aniqligi va yetkazish narxining tushunarliligini o‘lchaymiz.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C25B58-0DE1-4986-B31F-3AB62480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0965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TATU bosqichida Agrologistik pilotini boshlash uchun loyiha va smeta ko‘rib chiqilishini so‘raymiz.</a:t>
            </a:r>
          </a:p>
        </p:txBody>
      </p:sp>
    </p:spTree>
    <p:extLst>
      <p:ext uri="{BB962C8B-B14F-4D97-AF65-F5344CB8AC3E}">
        <p14:creationId xmlns:p14="http://schemas.microsoft.com/office/powerpoint/2010/main" val="17263685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2026-09-23T04:44:25.0240000Z</dcterms:created>
  <dcterms:modified xsi:type="dcterms:W3CDTF">2026-09-23T04:44:25.0250000Z</dcterms:modified>
</coreProperties>
</file>